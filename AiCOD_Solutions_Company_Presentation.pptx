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ICOD SOLUTIONS 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914400"/>
            <a:ext cx="1463040" cy="14630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65176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1A1F2B"/>
                </a:solidFill>
                <a:latin typeface="Poppins"/>
              </a:rPr>
              <a:t>AiCOD Solutions Limited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0066FF"/>
                </a:solidFill>
                <a:latin typeface="Plus Jakarta Sans"/>
              </a:rPr>
              <a:t>Empowering Businesses Through Innovative Digital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360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6B00"/>
                </a:solidFill>
                <a:latin typeface="Plus Jakarta Sans"/>
              </a:rPr>
              <a:t>Company Overview &amp; Presentation  •  Kabale, Uganda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066FF"/>
                </a:solidFill>
                <a:latin typeface="Poppins"/>
              </a:rPr>
              <a:t>What We'll Cover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1005840" cy="76200"/>
          </a:xfrm>
          <a:prstGeom prst="round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1A1F2B"/>
                </a:solidFill>
                <a:latin typeface="Plus Jakarta Sans"/>
              </a:rPr>
              <a:t>✓  About AiCOD Solutions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A1F2B"/>
                </a:solidFill>
                <a:latin typeface="Plus Jakarta Sans"/>
              </a:rPr>
              <a:t>✓  Mission, Vision &amp; Values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A1F2B"/>
                </a:solidFill>
                <a:latin typeface="Plus Jakarta Sans"/>
              </a:rPr>
              <a:t>✓  Services We Offer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A1F2B"/>
                </a:solidFill>
                <a:latin typeface="Plus Jakarta Sans"/>
              </a:rPr>
              <a:t>✓  Strategic Objectives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A1F2B"/>
                </a:solidFill>
                <a:latin typeface="Plus Jakarta Sans"/>
              </a:rPr>
              <a:t>✓  Organizational Structure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A1F2B"/>
                </a:solidFill>
                <a:latin typeface="Plus Jakarta Sans"/>
              </a:rPr>
              <a:t>✓  Get In Touch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066FF"/>
                </a:solidFill>
                <a:latin typeface="Poppins"/>
              </a:rPr>
              <a:t>Who We Are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1005840" cy="76200"/>
          </a:xfrm>
          <a:prstGeom prst="round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A1F2B"/>
                </a:solidFill>
                <a:latin typeface="Plus Jakarta Sans"/>
              </a:rPr>
              <a:t>AiCOD Solutions Limited is a dynamic technology company based in Kabale, Uganda, specializing in comprehensive digital solutions for businesses and individuals. Founded on 1st January 2025, we help clients grow through modern digital techniques.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291840"/>
            <a:ext cx="3566160" cy="1463040"/>
          </a:xfrm>
          <a:prstGeom prst="roundRect">
            <a:avLst/>
          </a:prstGeom>
          <a:gradFill rotWithShape="1">
            <a:gsLst>
              <a:gs pos="0">
                <a:srgbClr val="0066FF"/>
              </a:gs>
              <a:gs pos="100000">
                <a:srgbClr val="FF6B00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Poppins"/>
              </a:rPr>
              <a:t>36+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Plus Jakarta Sans"/>
              </a:rPr>
              <a:t>Businesses Helped / Year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3291840"/>
            <a:ext cx="3566160" cy="1463040"/>
          </a:xfrm>
          <a:prstGeom prst="roundRect">
            <a:avLst/>
          </a:prstGeom>
          <a:gradFill rotWithShape="1">
            <a:gsLst>
              <a:gs pos="0">
                <a:srgbClr val="0066FF"/>
              </a:gs>
              <a:gs pos="100000">
                <a:srgbClr val="FF6B00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Poppins"/>
              </a:rPr>
              <a:t>95%+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Plus Jakarta Sans"/>
              </a:rPr>
              <a:t>Customer Satisfaction Target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3291840"/>
            <a:ext cx="3566160" cy="1463040"/>
          </a:xfrm>
          <a:prstGeom prst="roundRect">
            <a:avLst/>
          </a:prstGeom>
          <a:gradFill rotWithShape="1">
            <a:gsLst>
              <a:gs pos="0">
                <a:srgbClr val="0066FF"/>
              </a:gs>
              <a:gs pos="100000">
                <a:srgbClr val="FF6B00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Poppins"/>
              </a:rPr>
              <a:t>1000+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Plus Jakarta Sans"/>
              </a:rPr>
              <a:t>Individuals Trained (2 yrs)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066FF"/>
                </a:solidFill>
                <a:latin typeface="Poppins"/>
              </a:rPr>
              <a:t>Mission &amp; Vision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1005840" cy="76200"/>
          </a:xfrm>
          <a:prstGeom prst="round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5394960" cy="4114800"/>
          </a:xfrm>
          <a:prstGeom prst="roundRect">
            <a:avLst/>
          </a:prstGeom>
          <a:solidFill>
            <a:srgbClr val="F4F7FB"/>
          </a:solidFill>
          <a:ln w="19050">
            <a:solidFill>
              <a:srgbClr val="00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/>
            <a:r>
              <a:rPr sz="2000" b="1">
                <a:solidFill>
                  <a:srgbClr val="FF6B00"/>
                </a:solidFill>
                <a:latin typeface="Poppins"/>
              </a:rPr>
              <a:t>Our Mission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A1F2B"/>
                </a:solidFill>
                <a:latin typeface="Plus Jakarta Sans"/>
              </a:rPr>
              <a:t>Empowering businesses and individuals through innovative digital solutions, exceptional service, and continuous learning, while fostering growth, productivity, and success in the digital 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737360"/>
            <a:ext cx="5394960" cy="4114800"/>
          </a:xfrm>
          <a:prstGeom prst="roundRect">
            <a:avLst/>
          </a:prstGeom>
          <a:solidFill>
            <a:srgbClr val="F4F7FB"/>
          </a:solidFill>
          <a:ln w="19050">
            <a:solidFill>
              <a:srgbClr val="00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/>
            <a:r>
              <a:rPr sz="2000" b="1">
                <a:solidFill>
                  <a:srgbClr val="FF6B00"/>
                </a:solidFill>
                <a:latin typeface="Poppins"/>
              </a:rPr>
              <a:t>Our Vision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A1F2B"/>
                </a:solidFill>
                <a:latin typeface="Plus Jakarta Sans"/>
              </a:rPr>
              <a:t>To be a leading technology company in Uganda, recognized for expertise in digital solutions, commitment to customer satisfaction, and contribution to the growth of the digital economy.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066FF"/>
                </a:solidFill>
                <a:latin typeface="Poppins"/>
              </a:rPr>
              <a:t>Our Core Values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1005840" cy="76200"/>
          </a:xfrm>
          <a:prstGeom prst="round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011680"/>
            <a:ext cx="5486400" cy="640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066FF"/>
                </a:solidFill>
                <a:latin typeface="Plus Jakarta Sans"/>
              </a:rPr>
              <a:t>Innovation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834640"/>
            <a:ext cx="5486400" cy="640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066FF"/>
                </a:solidFill>
                <a:latin typeface="Plus Jakarta Sans"/>
              </a:rPr>
              <a:t>Customer-Centricity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657600"/>
            <a:ext cx="5486400" cy="640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066FF"/>
                </a:solidFill>
                <a:latin typeface="Plus Jakarta Sans"/>
              </a:rPr>
              <a:t>Excellence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480560"/>
            <a:ext cx="5486400" cy="640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066FF"/>
                </a:solidFill>
                <a:latin typeface="Plus Jakarta Sans"/>
              </a:rPr>
              <a:t>Collaboration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303520"/>
            <a:ext cx="5486400" cy="640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066FF"/>
                </a:solidFill>
                <a:latin typeface="Plus Jakarta Sans"/>
              </a:rPr>
              <a:t>Integrity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066FF"/>
                </a:solidFill>
                <a:latin typeface="Poppins"/>
              </a:rPr>
              <a:t>Services We Offer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1005840" cy="76200"/>
          </a:xfrm>
          <a:prstGeom prst="round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3566160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A1F2B"/>
                </a:solidFill>
                <a:latin typeface="Plus Jakarta Sans"/>
              </a:rPr>
              <a:t>Website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737360"/>
            <a:ext cx="3566160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A1F2B"/>
                </a:solidFill>
                <a:latin typeface="Plus Jakarta Sans"/>
              </a:rPr>
              <a:t>Mobile App Development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737360"/>
            <a:ext cx="3566160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A1F2B"/>
                </a:solidFill>
                <a:latin typeface="Plus Jakarta Sans"/>
              </a:rPr>
              <a:t>Advanced ICT Training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840480"/>
            <a:ext cx="3566160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A1F2B"/>
                </a:solidFill>
                <a:latin typeface="Plus Jakarta Sans"/>
              </a:rPr>
              <a:t>Computer Repair &amp; Maintenance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3840480"/>
            <a:ext cx="3566160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A1F2B"/>
                </a:solidFill>
                <a:latin typeface="Plus Jakarta Sans"/>
              </a:rPr>
              <a:t>Academic Research Assistance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3840480"/>
            <a:ext cx="3566160" cy="18288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A1F2B"/>
                </a:solidFill>
                <a:latin typeface="Plus Jakarta Sans"/>
              </a:rPr>
              <a:t>Security Camera Installation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066FF"/>
                </a:solidFill>
                <a:latin typeface="Poppins"/>
              </a:rPr>
              <a:t>Strategic 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1005840" cy="76200"/>
          </a:xfrm>
          <a:prstGeom prst="round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1A1F2B"/>
                </a:solidFill>
                <a:latin typeface="Plus Jakarta Sans"/>
              </a:rPr>
              <a:t>✓  Help 36 businesses adopt digital solutions every year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A1F2B"/>
                </a:solidFill>
                <a:latin typeface="Plus Jakarta Sans"/>
              </a:rPr>
              <a:t>✓  Achieve a customer satisfaction rate of 95%+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A1F2B"/>
                </a:solidFill>
                <a:latin typeface="Plus Jakarta Sans"/>
              </a:rPr>
              <a:t>✓  Launch 2 new digital products or services annually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A1F2B"/>
                </a:solidFill>
                <a:latin typeface="Plus Jakarta Sans"/>
              </a:rPr>
              <a:t>✓  Grow the team by 20% within 12 months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A1F2B"/>
                </a:solidFill>
                <a:latin typeface="Plus Jakarta Sans"/>
              </a:rPr>
              <a:t>✓  Provide digital skills training to 1,000 individuals in 2 years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066FF"/>
                </a:solidFill>
                <a:latin typeface="Poppins"/>
              </a:rPr>
              <a:t>Organizational Structure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1005840" cy="76200"/>
          </a:xfrm>
          <a:prstGeom prst="round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270248" y="1737360"/>
            <a:ext cx="3657600" cy="731520"/>
          </a:xfrm>
          <a:prstGeom prst="roundRect">
            <a:avLst/>
          </a:prstGeom>
          <a:gradFill rotWithShape="1">
            <a:gsLst>
              <a:gs pos="0">
                <a:srgbClr val="0066FF"/>
              </a:gs>
              <a:gs pos="100000">
                <a:srgbClr val="FF6B00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CEO / Managing Director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3707" y="3108960"/>
            <a:ext cx="17830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1F2B"/>
                </a:solidFill>
                <a:latin typeface="Plus Jakarta Sans"/>
              </a:rPr>
              <a:t>CTO / Head of
Development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23947" y="3108960"/>
            <a:ext cx="17830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1F2B"/>
                </a:solidFill>
                <a:latin typeface="Plus Jakarta Sans"/>
              </a:rPr>
              <a:t>Head of Sales
&amp; Marketing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44187" y="3108960"/>
            <a:ext cx="17830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1F2B"/>
                </a:solidFill>
                <a:latin typeface="Plus Jakarta Sans"/>
              </a:rPr>
              <a:t>Head of Finance
&amp; Admin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4427" y="3108960"/>
            <a:ext cx="17830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1F2B"/>
                </a:solidFill>
                <a:latin typeface="Plus Jakarta Sans"/>
              </a:rPr>
              <a:t>Head of Training
&amp; Research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4667" y="3108960"/>
            <a:ext cx="17830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1F2B"/>
                </a:solidFill>
                <a:latin typeface="Plus Jakarta Sans"/>
              </a:rPr>
              <a:t>Head of IT Services
&amp; Support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04907" y="3108960"/>
            <a:ext cx="17830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1F2B"/>
                </a:solidFill>
                <a:latin typeface="Plus Jakarta Sans"/>
              </a:rPr>
              <a:t>Head of Security
Solutions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066FF"/>
                </a:solidFill>
                <a:latin typeface="Poppins"/>
              </a:rPr>
              <a:t>Our Team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1005840" cy="76200"/>
          </a:xfrm>
          <a:prstGeom prst="round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5394960" cy="2286000"/>
          </a:xfrm>
          <a:prstGeom prst="roundRect">
            <a:avLst/>
          </a:prstGeom>
          <a:solidFill>
            <a:srgbClr val="F4F7FB"/>
          </a:solidFill>
          <a:ln w="19050">
            <a:solidFill>
              <a:srgbClr val="00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/>
            <a:r>
              <a:rPr sz="2000" b="1">
                <a:solidFill>
                  <a:srgbClr val="FF6B00"/>
                </a:solidFill>
                <a:latin typeface="Poppins"/>
              </a:rPr>
              <a:t>N. Wyclife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A1F2B"/>
                </a:solidFill>
                <a:latin typeface="Plus Jakarta Sans"/>
              </a:rPr>
              <a:t>CEO / Web Developer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737360"/>
            <a:ext cx="5394960" cy="2286000"/>
          </a:xfrm>
          <a:prstGeom prst="roundRect">
            <a:avLst/>
          </a:prstGeom>
          <a:solidFill>
            <a:srgbClr val="F4F7FB"/>
          </a:solidFill>
          <a:ln w="19050">
            <a:solidFill>
              <a:srgbClr val="00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/>
            <a:r>
              <a:rPr sz="2000" b="1">
                <a:solidFill>
                  <a:srgbClr val="FF6B00"/>
                </a:solidFill>
                <a:latin typeface="Poppins"/>
              </a:rPr>
              <a:t>I. Alfred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A1F2B"/>
                </a:solidFill>
                <a:latin typeface="Plus Jakarta Sans"/>
              </a:rPr>
              <a:t>Full Stack Developer / Mobile App Development Expert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066FF"/>
                </a:solidFill>
                <a:latin typeface="Poppins"/>
              </a:rPr>
              <a:t>Let's Work Together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1005840" cy="76200"/>
          </a:xfrm>
          <a:prstGeom prst="round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1A1F2B"/>
                </a:solidFill>
                <a:latin typeface="Plus Jakarta Sans"/>
              </a:rPr>
              <a:t>✓  Plot 22, Bushekwiire Road, Kabale (Mukikolegyi), Uganda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A1F2B"/>
                </a:solidFill>
                <a:latin typeface="Plus Jakarta Sans"/>
              </a:rPr>
              <a:t>✓  +256-771097982, +256-782937175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A1F2B"/>
                </a:solidFill>
                <a:latin typeface="Plus Jakarta Sans"/>
              </a:rPr>
              <a:t>✓  aicodsolutionsltd@gmail.com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A1F2B"/>
                </a:solidFill>
                <a:latin typeface="Plus Jakarta Sans"/>
              </a:rPr>
              <a:t>✓  Mon-Sat: 9AM-6PM, Sun: 2PM-5PM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